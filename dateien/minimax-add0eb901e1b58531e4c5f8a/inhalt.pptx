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bb-holzkonzept/-/blob/e464d88e2946c3f7a25318c21c39cf1fa8885d2c/_posts/2026-10-24-materialvertraeglichkeit-fachwerksanierung-holz-putz.md" TargetMode="External"/><Relationship Id="rId3" Type="http://schemas.openxmlformats.org/officeDocument/2006/relationships/hyperlink" Target="https://holzundhaus.github.io/bbholzkonzept/dateien/minimax-add0eb901e1b58531e4c5f8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Materialverträglichkeit bei Fachwerksanierung: Holzart, Klebstoff, Putz und Beschichtung im Zusammenspiel · Erklärende Präsentation</a:t>
            </a:r>
          </a:p>
        </p:txBody>
      </p:sp>
      <p:sp>
        <p:nvSpPr>
          <p:cNvPr id="3" name="Content Placeholder 2"/>
          <p:cNvSpPr>
            <a:spLocks noGrp="1"/>
          </p:cNvSpPr>
          <p:nvPr>
            <p:ph idx="1"/>
          </p:nvPr>
        </p:nvSpPr>
        <p:spPr/>
        <p:txBody>
          <a:bodyPr/>
          <a:lstStyle/>
          <a:p>
            <a:r>
              <a:t>Überblick: Bei einer Fachwerksanierung wirken Holz, Verbindungsmittel, Putz und Beschichtung nicht isoliert. Entscheidend ist daher das Zusammenspiel ihrer Eigenschaften: Holz und Altmaterialien müssen untereinander haften, Feuchte abführen und unterschiedliche Bewegungen vertragen. Der folgende Leitfaden zeigt, wie sich diese Anforderungen bei der Planung prüfen lassen. Mehr zum Schwerpunkt [Materialverträglichkeit bei der Fachwerksanierung](https://gitlab.com/info4678/bb-holzkonzept/-/blob/e464d88e2946c3f7a25318c21c39cf1fa8885d2c/_posts/2026-10-24-materialvertraeglichkeit-fachwerksanierung-holz-putz.md).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vor Produktwahl</a:t>
            </a:r>
          </a:p>
        </p:txBody>
      </p:sp>
      <p:sp>
        <p:nvSpPr>
          <p:cNvPr id="3" name="Content Placeholder 2"/>
          <p:cNvSpPr>
            <a:spLocks noGrp="1"/>
          </p:cNvSpPr>
          <p:nvPr>
            <p:ph idx="1"/>
          </p:nvPr>
        </p:nvSpPr>
        <p:spPr/>
        <p:txBody>
          <a:bodyPr/>
          <a:lstStyle/>
          <a:p>
            <a:pPr>
              <a:defRPr sz="1800"/>
            </a:pPr>
            <a:r>
              <a:t>Die Materialwahl sollte nicht beim Produktdatenblatt beginnen. Zunächst werden Tragholz, Anschlüsse und verdeckte Bauteile aufgearbeitet. Dabei sind frühere Reparaturen, eingesetzte Klebstoffe, Harzreste, öliche Behandlungen und vorhandene Anstriche zu berücksichtigen. Auch die Schwelle, der Auflagerbereich und der Ständerfuß gehören in den Blick, weil dort Holz, Mauerwerk und Putz unmittelbar aufeinandertreffen. Die vorhandene Feuchtesituation und die geplante Funktion der Bauteile bestimmen anschließend, welche Materialkombination überhaupt sinnvoll ist. Fotos dokumentieren den sichtbaren Zustand, ersetzen aber keine examining der verdeckte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 vor Produktwahl</a:t>
            </a:r>
          </a:p>
        </p:txBody>
      </p:sp>
      <p:sp>
        <p:nvSpPr>
          <p:cNvPr id="3" name="Content Placeholder 2"/>
          <p:cNvSpPr>
            <a:spLocks noGrp="1"/>
          </p:cNvSpPr>
          <p:nvPr>
            <p:ph idx="1"/>
          </p:nvPr>
        </p:nvSpPr>
        <p:spPr/>
        <p:txBody>
          <a:bodyPr/>
          <a:lstStyle/>
          <a:p>
            <a:pPr>
              <a:defRPr sz="1800"/>
            </a:pPr>
            <a:r>
              <a:t>n Anschlüsse oder Materialproben.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Verbindungsmittel miteinander abstimmen</a:t>
            </a:r>
          </a:p>
        </p:txBody>
      </p:sp>
      <p:sp>
        <p:nvSpPr>
          <p:cNvPr id="3" name="Content Placeholder 2"/>
          <p:cNvSpPr>
            <a:spLocks noGrp="1"/>
          </p:cNvSpPr>
          <p:nvPr>
            <p:ph idx="1"/>
          </p:nvPr>
        </p:nvSpPr>
        <p:spPr/>
        <p:txBody>
          <a:bodyPr/>
          <a:lstStyle/>
          <a:p>
            <a:pPr>
              <a:defRPr sz="1800"/>
            </a:pPr>
            <a:r>
              <a:t>Bei einer Teilerneuerung trifft neues Holz auf historisches Holz. Entscheidend ist neben der Holzart auch das erwartete Quell- und Schwindverhalten im jeweiligen Raumklima. Einschnitt, Trocknungszustand und Jahrringbreite beeinflussen, wie sich das Ersatzholz später bewegt. Zu trocken eingebautes Holz kann quellen und angrenzende Putzflächen absprengen. Reversible Holzverbindungen sind nach Möglichkeit vorzuziehen, wenn sie mit dem Bestand vereinbar sind. Harzreiche Flächen können die Haftung moderner Klebstoffe beeinträchtigen; eine Probeverklebung oder eine geeignete Vorbehandlung schafft daher mehr Sicherheit. Korrosionsgefährdete Verbindu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Verbindungsmittel miteinander abstimmen</a:t>
            </a:r>
          </a:p>
        </p:txBody>
      </p:sp>
      <p:sp>
        <p:nvSpPr>
          <p:cNvPr id="3" name="Content Placeholder 2"/>
          <p:cNvSpPr>
            <a:spLocks noGrp="1"/>
          </p:cNvSpPr>
          <p:nvPr>
            <p:ph idx="1"/>
          </p:nvPr>
        </p:nvSpPr>
        <p:spPr/>
        <p:txBody>
          <a:bodyPr/>
          <a:lstStyle/>
          <a:p>
            <a:pPr>
              <a:defRPr sz="1800"/>
            </a:pPr>
            <a:r>
              <a:t>ngsmittel benötigen im feuchten Gefach besondere Aufmerksamkeit.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 als Teil des Holz-Feuchte-Systems</a:t>
            </a:r>
          </a:p>
        </p:txBody>
      </p:sp>
      <p:sp>
        <p:nvSpPr>
          <p:cNvPr id="3" name="Content Placeholder 2"/>
          <p:cNvSpPr>
            <a:spLocks noGrp="1"/>
          </p:cNvSpPr>
          <p:nvPr>
            <p:ph idx="1"/>
          </p:nvPr>
        </p:nvSpPr>
        <p:spPr/>
        <p:txBody>
          <a:bodyPr/>
          <a:lstStyle/>
          <a:p>
            <a:pPr>
              <a:defRPr sz="1800"/>
            </a:pPr>
            <a:r>
              <a:t>Putz muss am Kontakt zwischen Holz und Gefach haften, unterschiedliche Bewegungen mitmachen und Feuchte regulieren. An der Holz-Stirnfläche von Ständern und Riegeln ist deshalb die Ausführung des Putzträgers und Übergangs entscheidend. Eine zu dicke Putzlage auf ungleichen Untergründen kann reißen. Mineralische Systeme wie Kalk oder Lehm lassen mehr Feuchte durch; dichte Kunstharzputze können dagegen Feuchte einschließen und den dahinterliegenden Holzrand beeinträchtigen. Vor der Auswahl sollte daher geklärt werden, wie Wasser eintritt, wie Dampf transportiert wird und wo das Gefach abtrocknen kann. Eine zusätzliche Dämmung oder eine neue 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 als Teil des Holz-Feuchte-Systems</a:t>
            </a:r>
          </a:p>
        </p:txBody>
      </p:sp>
      <p:sp>
        <p:nvSpPr>
          <p:cNvPr id="3" name="Content Placeholder 2"/>
          <p:cNvSpPr>
            <a:spLocks noGrp="1"/>
          </p:cNvSpPr>
          <p:nvPr>
            <p:ph idx="1"/>
          </p:nvPr>
        </p:nvSpPr>
        <p:spPr/>
        <p:txBody>
          <a:bodyPr/>
          <a:lstStyle/>
          <a:p>
            <a:pPr>
              <a:defRPr sz="1800"/>
            </a:pPr>
            <a:r>
              <a:t>chichtung kann die Bedingungen verändern und eine zuvor bewährte Lösung ungeeignet machen.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erst nach der Systemprüfung</a:t>
            </a:r>
          </a:p>
        </p:txBody>
      </p:sp>
      <p:sp>
        <p:nvSpPr>
          <p:cNvPr id="3" name="Content Placeholder 2"/>
          <p:cNvSpPr>
            <a:spLocks noGrp="1"/>
          </p:cNvSpPr>
          <p:nvPr>
            <p:ph idx="1"/>
          </p:nvPr>
        </p:nvSpPr>
        <p:spPr/>
        <p:txBody>
          <a:bodyPr/>
          <a:lstStyle/>
          <a:p>
            <a:pPr>
              <a:defRPr sz="1800"/>
            </a:pPr>
            <a:r>
              <a:t>Ein neuer Anstrich verdeckt einen Befund, verbessert aber nicht automatisch einen ungeeigneten Anschluss. Auf historischem Fachwerkputz sind diffusionsoffene Beschichtungen grundsätzlich sinnvoller als dichte Lacke oder Acrylanstriche, weil sie die Abtrocknung nicht blockieren. Auch Altanstriche müssen bekannt sein: Reste von Öl- oder Kalkanstrichen können die Haftung einer neuen Beschichtung beeinträchtigen. An Schwellen, Fensterbänken und Ständerfüßen wirken Holzschutz, Putzabschluss und Anstrich gemeinsam. Die farbliche Wirkung ist dabei nur ein Teil der Prüfung. Entscheidend sind Haftung, Trocknungsverhalten und die Offenheit des gesamten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erst nach der Systemprüfung</a:t>
            </a:r>
          </a:p>
        </p:txBody>
      </p:sp>
      <p:sp>
        <p:nvSpPr>
          <p:cNvPr id="3" name="Content Placeholder 2"/>
          <p:cNvSpPr>
            <a:spLocks noGrp="1"/>
          </p:cNvSpPr>
          <p:nvPr>
            <p:ph idx="1"/>
          </p:nvPr>
        </p:nvSpPr>
        <p:spPr/>
        <p:txBody>
          <a:bodyPr/>
          <a:lstStyle/>
          <a:p>
            <a:pPr>
              <a:defRPr sz="1800"/>
            </a:pPr>
            <a:r>
              <a:t> Schichtaufbaus.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dokumentieren und fachlich abstimmen</a:t>
            </a:r>
          </a:p>
        </p:txBody>
      </p:sp>
      <p:sp>
        <p:nvSpPr>
          <p:cNvPr id="3" name="Content Placeholder 2"/>
          <p:cNvSpPr>
            <a:spLocks noGrp="1"/>
          </p:cNvSpPr>
          <p:nvPr>
            <p:ph idx="1"/>
          </p:nvPr>
        </p:nvSpPr>
        <p:spPr/>
        <p:txBody>
          <a:bodyPr/>
          <a:lstStyle/>
          <a:p>
            <a:pPr>
              <a:defRPr sz="1800"/>
            </a:pPr>
            <a:r>
              <a:t>Vor der Ausführung empfiehlt sich eine schrittweise Prüfung. Unauffällige Probeflächen zeigen, wie Putz und Anstrich auf dem vorhandenen Untergrund haften und trocknen. Ebenso kann eine Probeverklebung auf einer geeigneten Fläche Aufschluss über die Reaktion mit Altmaterialien geben. Holzschutz, Putzträger, Putz und Beschichtung sollten als eine zusammenhängende Schichtfolge festgelegt werden, da bereits ein unklarer Wechsel innerhalb des Systems die Verträglichkeit beeinflussen kann. Alle eingesetzten Produkte und Verfahren gehören in die Baudokumentation. Bei geschützten Gebäuden ist das Materialkonzept vorab mit der zuständigen Stelle abzu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Prüfen, dokumentieren und fachlich abstimmen</a:t>
            </a:r>
          </a:p>
        </p:txBody>
      </p:sp>
      <p:sp>
        <p:nvSpPr>
          <p:cNvPr id="3" name="Content Placeholder 2"/>
          <p:cNvSpPr>
            <a:spLocks noGrp="1"/>
          </p:cNvSpPr>
          <p:nvPr>
            <p:ph idx="1"/>
          </p:nvPr>
        </p:nvSpPr>
        <p:spPr/>
        <p:txBody>
          <a:bodyPr/>
          <a:lstStyle/>
          <a:p>
            <a:pPr>
              <a:defRPr sz="1800"/>
            </a:pPr>
            <a:r>
              <a:t>stimmen. Bei komplexen Befunden bietet eine Abstimmung mit einem [Fachbetrieb für die Fachwerksanierung](https://gitlab.com/info4678/bb-holzkonzept/-/blob/e464d88e2946c3f7a25318c21c39cf1fa8885d2c/_posts/2026-10-24-materialvertraeglichkeit-fachwerksanierung-holz-putz.md) eine belastbare Grundlage für die nächsten Schritte.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Materialverträglichkeit bei Fachwerksanierung: Holzart, Klebstoff, Putz und Beschichtung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