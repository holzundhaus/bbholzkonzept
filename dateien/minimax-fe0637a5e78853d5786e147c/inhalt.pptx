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bholzkonzept.wordpress.com/2026/10/30/witterungsschutz-holzbaustelle-bauphase/" TargetMode="External"/><Relationship Id="rId3" Type="http://schemas.openxmlformats.org/officeDocument/2006/relationships/hyperlink" Target="https://holzundhaus.github.io/bbholzkonzept/dateien/minimax-fe0637a5e78853d5786e147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Witterungsschutz auf der Holzbaustelle: was Transport, Montage und Kontrolle leisten müssen · Erklärende Präsentation</a:t>
            </a:r>
          </a:p>
        </p:txBody>
      </p:sp>
      <p:sp>
        <p:nvSpPr>
          <p:cNvPr id="3" name="Content Placeholder 2"/>
          <p:cNvSpPr>
            <a:spLocks noGrp="1"/>
          </p:cNvSpPr>
          <p:nvPr>
            <p:ph idx="1"/>
          </p:nvPr>
        </p:nvSpPr>
        <p:spPr/>
        <p:txBody>
          <a:bodyPr/>
          <a:lstStyle/>
          <a:p>
            <a:r>
              <a:t>Überblick: Witterungsschutz im Holzbau beginnt nicht erst mit der Montage, sondern bereits beim Transport. Regen, Schnee und Tauwasser können Holzbauteile während der Bauphase beschädigen, wenn Abdeckung, Lagerung und Kontrolle nicht aufeinander abgestimmt sind. Dieser Leitfaden strukturiert den praktischen Ablauf von der Anlieferung bis zur Freigabe vor Dämmung oder Bekleidung. Er ergänzt die allgemeinen Hinweise zum Feuchteschutz im Holzbau um konkrete Fragen für die Bauplanung und die Baustelle.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Transport: Feuchte früh abweisen</a:t>
            </a:r>
          </a:p>
        </p:txBody>
      </p:sp>
      <p:sp>
        <p:nvSpPr>
          <p:cNvPr id="3" name="Content Placeholder 2"/>
          <p:cNvSpPr>
            <a:spLocks noGrp="1"/>
          </p:cNvSpPr>
          <p:nvPr>
            <p:ph idx="1"/>
          </p:nvPr>
        </p:nvSpPr>
        <p:spPr/>
        <p:txBody>
          <a:bodyPr/>
          <a:lstStyle/>
          <a:p>
            <a:pPr>
              <a:defRPr sz="1800"/>
            </a:pPr>
            <a:r>
              <a:t>Bereits auf dem LKW können Bauteile Niederschlag ausgesetzt sein. Abdeckungen sollten Wasser kontrolliert ableiten, statt es in Mulden oder an Anschlüssen zu sammeln. Gleichzeitig muss die Verpackung so beschaffen sein, dass vorhandene Restfeuchte entweichen kann. Eine luftdichte Folie allein erfüllt diese Aufgabe nicht zuverlässig: Sie kann mehr Feuchte einschließen, als sie abhält. Beim Transport ist daher nicht nur die Abdeckung wichtig, sondern auch ihre Funktion für die spätere Lagerung und Montage.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Lagerung auf der Baustelle organisieren</a:t>
            </a:r>
          </a:p>
        </p:txBody>
      </p:sp>
      <p:sp>
        <p:nvSpPr>
          <p:cNvPr id="3" name="Content Placeholder 2"/>
          <p:cNvSpPr>
            <a:spLocks noGrp="1"/>
          </p:cNvSpPr>
          <p:nvPr>
            <p:ph idx="1"/>
          </p:nvPr>
        </p:nvSpPr>
        <p:spPr/>
        <p:txBody>
          <a:bodyPr/>
          <a:lstStyle/>
          <a:p>
            <a:pPr>
              <a:defRPr sz="1800"/>
            </a:pPr>
            <a:r>
              <a:t>Der Lagerplatz sollte trocken, plan und frei von stehendem Wasser sein. Der erforderliche Abstand zum Erdreich muss durchgehend eingehalten werden. Eine Abdeckung von oben schützt vor Niederschlag, sollte aber Lüftungsspielraum lassen. Stirnseiten benötigen zusätzlichen Schutz gegen Schlagregen. Bei mehreren angekommenen Elementen empfiehlt sich eine Reihenfolge, bei der ältere Bauteile zuerst verarbeitet werden. Bei vorgefertigten Elementen beeinflusst die Stapelöffnung die spätere Einbaufeuchte und gehört deshalb bereits in die Planung des Lagerbereichs.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Offene Bauteile gezielt schützen</a:t>
            </a:r>
          </a:p>
        </p:txBody>
      </p:sp>
      <p:sp>
        <p:nvSpPr>
          <p:cNvPr id="3" name="Content Placeholder 2"/>
          <p:cNvSpPr>
            <a:spLocks noGrp="1"/>
          </p:cNvSpPr>
          <p:nvPr>
            <p:ph idx="1"/>
          </p:nvPr>
        </p:nvSpPr>
        <p:spPr/>
        <p:txBody>
          <a:bodyPr/>
          <a:lstStyle/>
          <a:p>
            <a:pPr>
              <a:defRPr sz="1800"/>
            </a:pPr>
            <a:r>
              <a:t>In Zwischenphasen sind Dächer, Wände oder Decken häufig noch nicht geschlossen. Für diese Situation braucht es eine eigene Schutzebene. Wasser sollte mit einem Gefälle ablaufen können und nicht in offenen Sparrenfeldern stehen bleiben. Notdächer oder provisorische Regenrinnen können offene Bereiche vor unmittelbarem Regen schützen. An Wandscheiben ohne vollständige Hülle sind Schutzfolien sinnvoll. Provisorische Anschlüsse an Bestandsbauteile können verhindern, dass Wasser in Sockel- oder Wandkonstruktionen gelangt. Alle Notbehelfe müssen so ausgeführt sein, dass sie die spätere Abtrocknung nicht blockieren.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Kontrollgänge und Zuständigkeiten festlegen</a:t>
            </a:r>
          </a:p>
        </p:txBody>
      </p:sp>
      <p:sp>
        <p:nvSpPr>
          <p:cNvPr id="3" name="Content Placeholder 2"/>
          <p:cNvSpPr>
            <a:spLocks noGrp="1"/>
          </p:cNvSpPr>
          <p:nvPr>
            <p:ph idx="1"/>
          </p:nvPr>
        </p:nvSpPr>
        <p:spPr/>
        <p:txBody>
          <a:bodyPr/>
          <a:lstStyle/>
          <a:p>
            <a:pPr>
              <a:defRPr sz="1800"/>
            </a:pPr>
            <a:r>
              <a:t>Witterungsschutz ist keine einmalige Handlung. Offene Konstruktionen müssen über mehrere Tage oder Wochen regelmäßig überprüft werden, besonders nach Sturm, Starkregen oder anderen Wetterwechseln. Zu den Kontrollgängen gehören das Prüfen und erneute Sichern von Abdeckungen, das Freihalten von Wasserabläufen bei Pfützen sowie Feuchtemessungen an neuralgischen Punkten, bevor Bauteile geschlossen werden. Schäden sollten dokumentiert werden. Eine klare Zuständigkeit macht nachvollziehbar, wer Abdeckungen kontrolliert, Schäden meldet und die erforderlichen Maßnahmen veranlasst.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Schließen prüfen und freigeben</a:t>
            </a:r>
          </a:p>
        </p:txBody>
      </p:sp>
      <p:sp>
        <p:nvSpPr>
          <p:cNvPr id="3" name="Content Placeholder 2"/>
          <p:cNvSpPr>
            <a:spLocks noGrp="1"/>
          </p:cNvSpPr>
          <p:nvPr>
            <p:ph idx="1"/>
          </p:nvPr>
        </p:nvSpPr>
        <p:spPr/>
        <p:txBody>
          <a:bodyPr/>
          <a:lstStyle/>
          <a:p>
            <a:pPr>
              <a:defRPr sz="1800"/>
            </a:pPr>
            <a:r>
              <a:t>Eine trockene Oberfläche allein bedeutet nicht, dass ein Bauteil für die nächste Bauleistung freigegeben ist. Vor Dämmung oder Bekleidung muss geprüft werden, ob der Feuchteeintrag beendet ist und wie lange das Bauteil noch abtrocknen muss. Dokumentierte Freigaben halten den Zustand fest und verhindern, dass feuchte Bauteile lediglich wegen eines Folgetermins verdeckt werden. Witterungsschutz sollte deshalb als eigener, klar abgegrenzter Bestandteil in die Bauplanung und das Angebot aufgenommen werden. So sind Schutz, Kontrolle und Freigabe nicht bloß Nebenaufgaben, sondern planbare Leistungen der Bauphase.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Witterungsschutz auf der Holzbaustelle: was Transport, Montage und Kontrolle leisten müssen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