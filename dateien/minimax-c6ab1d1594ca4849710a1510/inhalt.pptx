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bholzkonzept.blogspot.com/2026/10/hinterluftung-hinter-der-holzfassade-so.html" TargetMode="External"/><Relationship Id="rId3" Type="http://schemas.openxmlformats.org/officeDocument/2006/relationships/hyperlink" Target="https://holzundhaus.github.io/bbholzkonzept/dateien/minimax-c6ab1d1594ca4849710a151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hinter der Holzfassade: So bleibt der Spalt trocken · Erklärende Präsentation</a:t>
            </a:r>
          </a:p>
        </p:txBody>
      </p:sp>
      <p:sp>
        <p:nvSpPr>
          <p:cNvPr id="3" name="Content Placeholder 2"/>
          <p:cNvSpPr>
            <a:spLocks noGrp="1"/>
          </p:cNvSpPr>
          <p:nvPr>
            <p:ph idx="1"/>
          </p:nvPr>
        </p:nvSpPr>
        <p:spPr/>
        <p:txBody>
          <a:bodyPr/>
          <a:lstStyle/>
          <a:p>
            <a:r>
              <a:t>Überblick: Bei einer Holzfassade entsteht zwischen Bekleidung und Wand ein technisch wichtiger Raum. Dieser muss trocken bleiben, damit eingedrungene Feuchtigkeit abziehen kann und der Aufbau hinter der Fassade nicht beeinträchtigt wird. Der folgende Leitfaden richtet den Blick auf die Schnittstelle zwischen Holzbekleidung, Unterkonstruktion und Anschlüssen. Er ergänzt die Grundlagen der Hinterlüftung um konkrete Fragen für die weitere Planung: Wo können Abstände verloren gehen? Welche Bauteile dürfen den Luftweg nicht versperren? Welche Angaben sollte eine belastbare Planung enthalten? Die einzelne Fuge allein löst diese Aufgaben nicht. 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Hinterlüftung als System prüfen</a:t>
            </a:r>
          </a:p>
        </p:txBody>
      </p:sp>
      <p:sp>
        <p:nvSpPr>
          <p:cNvPr id="3" name="Content Placeholder 2"/>
          <p:cNvSpPr>
            <a:spLocks noGrp="1"/>
          </p:cNvSpPr>
          <p:nvPr>
            <p:ph idx="1"/>
          </p:nvPr>
        </p:nvSpPr>
        <p:spPr/>
        <p:txBody>
          <a:bodyPr/>
          <a:lstStyle/>
          <a:p>
            <a:pPr>
              <a:defRPr sz="1800"/>
            </a:pPr>
            <a:r>
              <a:t>Zwischen Schalung und Wand wirkt die Hinterlüftungsebene in drei Richtungen: Sie muss Feuchtigkeit aufnehmen können, die durch Fugen, Diffusion oder Bauteiltoleranzen eindringt. Anschließend ist ein Weg nach außen erforderlich, damit die Feuchtigkeit abtropfen und abdunsten kann. Zugleich entsteht durch die Luftbewegung ein räumlicher Abstand zwischen Wand und Holzbekleidung. Dieser wirkt als Puffer gegen direkte Wärmeeinflüsse. Konterlattung und Traglattung müssen deshalb zusammenarbeiten. Nicht jede einzelne Lattung erfüllt automatisch alle Aufgaben. Bei der Planung sollte sichtbar dokumentiert werden, welche Funktion welches Bauteil im Auf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Hinterlüftung als System prüfen</a:t>
            </a:r>
          </a:p>
        </p:txBody>
      </p:sp>
      <p:sp>
        <p:nvSpPr>
          <p:cNvPr id="3" name="Content Placeholder 2"/>
          <p:cNvSpPr>
            <a:spLocks noGrp="1"/>
          </p:cNvSpPr>
          <p:nvPr>
            <p:ph idx="1"/>
          </p:nvPr>
        </p:nvSpPr>
        <p:spPr/>
        <p:txBody>
          <a:bodyPr/>
          <a:lstStyle/>
          <a:p>
            <a:pPr>
              <a:defRPr sz="1800"/>
            </a:pPr>
            <a:r>
              <a:t>bau übernimmt. Das verhindert Lücken zwischen Holzbekleidung, Unterkonstruktion und Wand sowie ungünstige Wege für Wasser. Weitere Hinweise zum Zusammenspiel der Bauteile bietet der Beitrag [Hinterlüftung hinter der Holzfassade](https://bbholzkonzept.blogspot.com/2026/10/hinterluftung-hinter-der-holzfassade-so.html).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Luftweg und Spalttiefe zusammenhängend beurteilen</a:t>
            </a:r>
          </a:p>
        </p:txBody>
      </p:sp>
      <p:sp>
        <p:nvSpPr>
          <p:cNvPr id="3" name="Content Placeholder 2"/>
          <p:cNvSpPr>
            <a:spLocks noGrp="1"/>
          </p:cNvSpPr>
          <p:nvPr>
            <p:ph idx="1"/>
          </p:nvPr>
        </p:nvSpPr>
        <p:spPr/>
        <p:txBody>
          <a:bodyPr/>
          <a:lstStyle/>
          <a:p>
            <a:pPr>
              <a:defRPr sz="1800"/>
            </a:pPr>
            <a:r>
              <a:t>Die Tiefe des Hinterlüftungsraums ergibt sich aus dem vorhandenen Wandaufbau und der Profilhöhe der Bekleidung. Eine pauschale Standardlatte ersetzt diese Prüfung nicht. Der Spalt muss durchgehend bleiben und an Anschlüssen, Fensterbänken oder Einbauteilen nicht unbeabsichtigt eingeengt werden. Neben dem Abstand zur Wand ist auch der freie Querschnitt entscheidend: Eine zu geringe Öffnung kann den Luftstrom deutlich behindern. Ebenso wichtig ist, dass abtropfendes Wasser nicht über Kapillarwirkung zur Wand gelangt. Bei einer Bestandsaufnahme sollten deshalb nicht nur die sichtbaren Profile erfasst werden. Zu prüfen sind außerdem die tatsächli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Luftweg und Spalttiefe zusammenhängend beurteilen</a:t>
            </a:r>
          </a:p>
        </p:txBody>
      </p:sp>
      <p:sp>
        <p:nvSpPr>
          <p:cNvPr id="3" name="Content Placeholder 2"/>
          <p:cNvSpPr>
            <a:spLocks noGrp="1"/>
          </p:cNvSpPr>
          <p:nvPr>
            <p:ph idx="1"/>
          </p:nvPr>
        </p:nvSpPr>
        <p:spPr/>
        <p:txBody>
          <a:bodyPr/>
          <a:lstStyle/>
          <a:p>
            <a:pPr>
              <a:defRPr sz="1800"/>
            </a:pPr>
            <a:r>
              <a:t>che Wandkonstruktion, vorhandene Aufbauten und alle Stellen, an denen andere Bauteile in die Fassade eingreifen. Die Angaben im Bestandsplan können den realen Aufbau allein nicht zuverlässig wiedergeben. Eine ergänzende Übersicht zur [Holzfassade und ihren Anschlüssen](https://www.bb-holzkonzept.de/holzfassade/) unterstützt die Abstimmung zwischen Bekleidung und Unterkonstruktion.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Sockelbereich als Eintrittsstelle kontrollieren</a:t>
            </a:r>
          </a:p>
        </p:txBody>
      </p:sp>
      <p:sp>
        <p:nvSpPr>
          <p:cNvPr id="3" name="Content Placeholder 2"/>
          <p:cNvSpPr>
            <a:spLocks noGrp="1"/>
          </p:cNvSpPr>
          <p:nvPr>
            <p:ph idx="1"/>
          </p:nvPr>
        </p:nvSpPr>
        <p:spPr/>
        <p:txBody>
          <a:bodyPr/>
          <a:lstStyle/>
          <a:p>
            <a:pPr>
              <a:defRPr sz="1800"/>
            </a:pPr>
            <a:r>
              <a:t>Am unteren Fassadenabschnitt beginnt die Zuluft. Damit sie trocken in den Spalt gelangt, muss die Öffnung über das gesamte relevante Bauteil durchgehend vorhanden sein. Ein Lüftungsprofil oder ein ausreichender Abstand zwischen Bekleidung und Sockel kann diesen Eintritt ermöglichen. Gleichzeitig darf Spritzwasser vom Boden nicht dauerhaft in den Hinterlüftungsraum gelangen. Deshalb gehören Abstand zur Geländeoberkante, Verlauf des Sockelanschlusses und mögliche Wasserbelastungen in dieselbe Betrachtung. Ein Holzboden, der zu nah an die Fassade reicht, kann den unteren Bereich dauerhaft befeuchten und die Zuluft beeinträchtigen. Für die Planun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Sockelbereich als Eintrittsstelle kontrollieren</a:t>
            </a:r>
          </a:p>
        </p:txBody>
      </p:sp>
      <p:sp>
        <p:nvSpPr>
          <p:cNvPr id="3" name="Content Placeholder 2"/>
          <p:cNvSpPr>
            <a:spLocks noGrp="1"/>
          </p:cNvSpPr>
          <p:nvPr>
            <p:ph idx="1"/>
          </p:nvPr>
        </p:nvSpPr>
        <p:spPr/>
        <p:txBody>
          <a:bodyPr/>
          <a:lstStyle/>
          <a:p>
            <a:pPr>
              <a:defRPr sz="1800"/>
            </a:pPr>
            <a:r>
              <a:t>g ist deshalb zu klären, bis wohin Spritzwasser gelangen kann und wie der Sockel das Wasser von der Hinterlüftungsebene fernhält. Das gilt auch bei Terrassen und angrenzenden, befestigten Flächen. Entscheidend ist nicht allein die sichtbare Öffnung, sondern deren trockene und ungestörte Funktion im Zusammenspiel mit der Bekleidung.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Abluft am Dachrand und an Unterbrechungen sichern</a:t>
            </a:r>
          </a:p>
        </p:txBody>
      </p:sp>
      <p:sp>
        <p:nvSpPr>
          <p:cNvPr id="3" name="Content Placeholder 2"/>
          <p:cNvSpPr>
            <a:spLocks noGrp="1"/>
          </p:cNvSpPr>
          <p:nvPr>
            <p:ph idx="1"/>
          </p:nvPr>
        </p:nvSpPr>
        <p:spPr/>
        <p:txBody>
          <a:bodyPr/>
          <a:lstStyle/>
          <a:p>
            <a:pPr>
              <a:defRPr sz="1800"/>
            </a:pPr>
            <a:r>
              <a:t>Am oberen Fassadenabschnitt muss die Luft wieder austreten können. Zierbretter, Untersichten oder Insektenschutzgitter dürfen den Abluftquerschnitt nicht so weit verringern, dass sich Feuchte staut. Auch Fensterbereiche, Brüstungen und waagerechte Profile können den Luftweg versehentlich unterbrechen. Anschlüsse sollten deshalb im Detail geprüft werden: Bleibt hinter jedem unterbrechenden Bauteil genug Raum für den Luftstrom? Werden Wasserwege und Abluftwege gemeinsam betrachtet? Ein Insektenschutzgitter muss den vorgesehenen Abluftquerschnitt weitgehend erhalten. Gerade am Dachrand entstehen Feuchteprobleme häufig dort, wo der Spalt zwar geö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Abluft am Dachrand und an Unterbrechungen sichern</a:t>
            </a:r>
          </a:p>
        </p:txBody>
      </p:sp>
      <p:sp>
        <p:nvSpPr>
          <p:cNvPr id="3" name="Content Placeholder 2"/>
          <p:cNvSpPr>
            <a:spLocks noGrp="1"/>
          </p:cNvSpPr>
          <p:nvPr>
            <p:ph idx="1"/>
          </p:nvPr>
        </p:nvSpPr>
        <p:spPr/>
        <p:txBody>
          <a:bodyPr/>
          <a:lstStyle/>
          <a:p>
            <a:pPr>
              <a:defRPr sz="1800"/>
            </a:pPr>
            <a:r>
              <a:t>ffnet erscheint, im weiteren Verlauf aber blockiert ist. Die Planung sollte daher nicht beim Profil enden, sondern den gesamten Weg von der unteren Öffnung bis zum Dachrand nachvollziehen. Abweichungen zwischen Wand, Unterkonstruktion und Bekleidung sind dabei besonders zu berücksichtigen.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als eigene Leistung vereinbaren</a:t>
            </a:r>
          </a:p>
        </p:txBody>
      </p:sp>
      <p:sp>
        <p:nvSpPr>
          <p:cNvPr id="3" name="Content Placeholder 2"/>
          <p:cNvSpPr>
            <a:spLocks noGrp="1"/>
          </p:cNvSpPr>
          <p:nvPr>
            <p:ph idx="1"/>
          </p:nvPr>
        </p:nvSpPr>
        <p:spPr/>
        <p:txBody>
          <a:bodyPr/>
          <a:lstStyle/>
          <a:p>
            <a:pPr>
              <a:defRPr sz="1800"/>
            </a:pPr>
            <a:r>
              <a:t>Für ein belastbares Angebot ist die Hinterlüftung eine eigenständige Planungsleistung und nicht lediglich eine pauschal enthaltene Lattung. Zu klären sind der tatsächliche Wandaufbau, die Anordnung der Unterkonstruktion, der geplante Luftweg sowie Anschlüsse an Fenstern, Sockel und Dachrand. Sinnvoll ist außerdem eine Festlegung dazu, wo Feuchte eintreten, wie sie abgeführt und wo sie anschließend abtropfen soll. Angaben zu Insektenschutz, Fensterbänken, Brüstungen und eingebauten Teilen gehören ebenfalls in diese Abstimmung. So lassen sich mögliche Blockaden früh erkennen und einzelne Detailzeichnungen gezielt nacharbeiten. Die Erfahrung zei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als eigene Leistung vereinbaren</a:t>
            </a:r>
          </a:p>
        </p:txBody>
      </p:sp>
      <p:sp>
        <p:nvSpPr>
          <p:cNvPr id="3" name="Content Placeholder 2"/>
          <p:cNvSpPr>
            <a:spLocks noGrp="1"/>
          </p:cNvSpPr>
          <p:nvPr>
            <p:ph idx="1"/>
          </p:nvPr>
        </p:nvSpPr>
        <p:spPr/>
        <p:txBody>
          <a:bodyPr/>
          <a:lstStyle/>
          <a:p>
            <a:pPr>
              <a:defRPr sz="1800"/>
            </a:pPr>
            <a:r>
              <a:t>gt: Zwischen geplantem Grundschema und ausgeführtem Aufbau können Abweichungen entstehen. Genau deshalb sollten die Anforderungen an die Hinterlüftungsebene vor der Ausführung eindeutig beschrieben und anhand der Anschlüsse überprüft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Hinterlüftung hinter der Holzfassade: So bleibt der Spalt trocken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