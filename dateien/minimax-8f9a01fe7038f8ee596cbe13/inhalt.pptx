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bholzkonzept.blogspot.com/2026/10/holzzaun-und-windlast-pfostenabstande.html" TargetMode="External"/><Relationship Id="rId3" Type="http://schemas.openxmlformats.org/officeDocument/2006/relationships/hyperlink" Target="https://holzundhaus.github.io/bbholzkonzept/dateien/minimax-8f9a01fe7038f8ee596cbe1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Holzzaun und Windlast: Pfostenabstände und Fundamente im Zusammenhang · Erklärende Präsentation</a:t>
            </a:r>
          </a:p>
        </p:txBody>
      </p:sp>
      <p:sp>
        <p:nvSpPr>
          <p:cNvPr id="3" name="Content Placeholder 2"/>
          <p:cNvSpPr>
            <a:spLocks noGrp="1"/>
          </p:cNvSpPr>
          <p:nvPr>
            <p:ph idx="1"/>
          </p:nvPr>
        </p:nvSpPr>
        <p:spPr/>
        <p:txBody>
          <a:bodyPr/>
          <a:lstStyle/>
          <a:p>
            <a:r>
              <a:t>Überblick: Holzzäune müssen nicht nur optisch passen, sondern auch den täglichen Angriffen durch Wind standhalten. Entscheidend ist der Zusammenhang aus Zaunhöhe, Feldaufbau, Pfostenabstand, Verbindung und Fundament. Der folgende Leitfaden zeigt, welche Fragen vor der Planung geklärt werden sollten und wie sich einzelne Bauteile sinnvoll aufeinander abstimmen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die Windlast auf den Zaun wirkt</a:t>
            </a:r>
          </a:p>
        </p:txBody>
      </p:sp>
      <p:sp>
        <p:nvSpPr>
          <p:cNvPr id="3" name="Content Placeholder 2"/>
          <p:cNvSpPr>
            <a:spLocks noGrp="1"/>
          </p:cNvSpPr>
          <p:nvPr>
            <p:ph idx="1"/>
          </p:nvPr>
        </p:nvSpPr>
        <p:spPr/>
        <p:txBody>
          <a:bodyPr/>
          <a:lstStyle/>
          <a:p>
            <a:pPr>
              <a:defRPr sz="1800"/>
            </a:pPr>
            <a:r>
              <a:t>Wind belastet jedes Zaunfeld und überträgt diese Kräfte auf die benachbarten Pfosten sowie anschließend in den Baugrund. Ein geschlossenes Feld schirmt stärker ab, bietet dem Wind aber zugleich eine größere Fläche. Bei einem offenen Lattenzaun kann die Luft besser durchströmen. Deshalb ist die Offenheit eines Feldes nicht nur eine gestalterische Entscheidung, sondern beeinflusst auch die Beanspruchung der Konstruktion.</a:t>
            </a:r>
          </a:p>
          <a:p>
            <a:pPr>
              <a:defRPr sz="1800"/>
            </a:pPr>
          </a:p>
          <a:p>
            <a:pPr>
              <a:defRPr sz="1800"/>
            </a:pPr>
            <a:r>
              <a:t>Auch Höhe und Lage des Zauns sind relevant. Höhere Felder haben eine größere Windfläche. Freie Grundstücksbereiche, Ecken und Abschnitte, an denen sich Wind sammelt, beanspruchen die Konstruktion stärker als Bereiche hinter 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die Windlast auf den Zaun wirkt</a:t>
            </a:r>
          </a:p>
        </p:txBody>
      </p:sp>
      <p:sp>
        <p:nvSpPr>
          <p:cNvPr id="3" name="Content Placeholder 2"/>
          <p:cNvSpPr>
            <a:spLocks noGrp="1"/>
          </p:cNvSpPr>
          <p:nvPr>
            <p:ph idx="1"/>
          </p:nvPr>
        </p:nvSpPr>
        <p:spPr/>
        <p:txBody>
          <a:bodyPr/>
          <a:lstStyle/>
          <a:p>
            <a:pPr>
              <a:defRPr sz="1800"/>
            </a:pPr>
            <a:r>
              <a:t>bäuden oder Hecken. Diese Unterschiede sollten bereits in der Planung berücksichtigt werden, damit später nicht jedes Detail einzeln nachjustiert werden muss.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Pfostenabstände aus der Belastung ableiten</a:t>
            </a:r>
          </a:p>
        </p:txBody>
      </p:sp>
      <p:sp>
        <p:nvSpPr>
          <p:cNvPr id="3" name="Content Placeholder 2"/>
          <p:cNvSpPr>
            <a:spLocks noGrp="1"/>
          </p:cNvSpPr>
          <p:nvPr>
            <p:ph idx="1"/>
          </p:nvPr>
        </p:nvSpPr>
        <p:spPr/>
        <p:txBody>
          <a:bodyPr/>
          <a:lstStyle/>
          <a:p>
            <a:pPr>
              <a:defRPr sz="1800"/>
            </a:pPr>
            <a:r>
              <a:t>Ein Pfostenabstand sollte nicht allein optisch festgelegt werden. Größere Abstände verlängern den Hebelarm zwischen den Pfosten und erhöhen dadurch die Biegebeanspruchung. Bei geschlossenen Feldern ist dieser Zusammenhang besonders wichtig, weil das Feld seine Windlast auf die beiden benachbarten Pfosten überträgt. Als Antwort bleiben grundsätzlich drei Möglichkeiten: kleinere Abstände wählen, den Pfostenquerschnitt verstärken oder die Verbindung zwischen Feld und Pfosten steifer ausführen. Bei offenen Konstruktionen sind tendenziell weitere Abstände möglich, weil der Winddruck auf das Feld geringer ausfällt.</a:t>
            </a:r>
          </a:p>
          <a:p>
            <a:pPr>
              <a:defRPr sz="1800"/>
            </a:pPr>
          </a:p>
          <a:p>
            <a:pPr>
              <a:defRPr sz="1800"/>
            </a:pPr>
            <a:r>
              <a:t>Für die Praxis bedeutet das: Höh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Pfostenabstände aus der Belastung ableiten</a:t>
            </a:r>
          </a:p>
        </p:txBody>
      </p:sp>
      <p:sp>
        <p:nvSpPr>
          <p:cNvPr id="3" name="Content Placeholder 2"/>
          <p:cNvSpPr>
            <a:spLocks noGrp="1"/>
          </p:cNvSpPr>
          <p:nvPr>
            <p:ph idx="1"/>
          </p:nvPr>
        </p:nvSpPr>
        <p:spPr/>
        <p:txBody>
          <a:bodyPr/>
          <a:lstStyle/>
          <a:p>
            <a:pPr>
              <a:defRPr sz="1800"/>
            </a:pPr>
            <a:r>
              <a:t>e, Offenheit und Standort jedes Abschnitts gehören in dieselbe Planung wie das gewünschte Raster der Pfosten. Ein einheitliches Raster über das gesamte Grundstück ist dann sinnvoll, wenn die Belastungs situation tatsächlich vergleichbar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Querschnitt und Befestigung miteinander abstimmen</a:t>
            </a:r>
          </a:p>
        </p:txBody>
      </p:sp>
      <p:sp>
        <p:nvSpPr>
          <p:cNvPr id="3" name="Content Placeholder 2"/>
          <p:cNvSpPr>
            <a:spLocks noGrp="1"/>
          </p:cNvSpPr>
          <p:nvPr>
            <p:ph idx="1"/>
          </p:nvPr>
        </p:nvSpPr>
        <p:spPr/>
        <p:txBody>
          <a:bodyPr/>
          <a:lstStyle/>
          <a:p>
            <a:pPr>
              <a:defRPr sz="1800"/>
            </a:pPr>
            <a:r>
              <a:t>Der Pfostenquerschnitt muss zur Höhe des Feldes und zur erwarteten Windlast passen. Ein dünner Pfosten mit einem großen geschlossenen Feld kann sich unter Winddruck dauerhaft durchbiegen. Auch die Befestigung des Feldes ist ein tragendes Detail: Sie muss horizontale Lasten weiterleiten und darf nicht zulassen, dass sich das Feld aus der Verbindung herauszieht. Deshalb sollten Befestigungsmittel, Pfostenquerschnitt und Feldgröße gemeinsam ausgewählt werden.</a:t>
            </a:r>
          </a:p>
          <a:p>
            <a:pPr>
              <a:defRPr sz="1800"/>
            </a:pPr>
          </a:p>
          <a:p>
            <a:pPr>
              <a:defRPr sz="1800"/>
            </a:pPr>
            <a:r>
              <a:t>Vor einer konkreten Auslegung sollten daher die vorgesehene Zaunhöhe, die gewünschte Offenheit, die Position der Tore und die Befestigungsart dokumentiert werden. So lässt sich prüfen, ob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Querschnitt und Befestigung miteinander abstimmen</a:t>
            </a:r>
          </a:p>
        </p:txBody>
      </p:sp>
      <p:sp>
        <p:nvSpPr>
          <p:cNvPr id="3" name="Content Placeholder 2"/>
          <p:cNvSpPr>
            <a:spLocks noGrp="1"/>
          </p:cNvSpPr>
          <p:nvPr>
            <p:ph idx="1"/>
          </p:nvPr>
        </p:nvSpPr>
        <p:spPr/>
        <p:txBody>
          <a:bodyPr/>
          <a:lstStyle/>
          <a:p>
            <a:pPr>
              <a:defRPr sz="1800"/>
            </a:pPr>
            <a:r>
              <a:t>die einzelnen Elemente nicht nur für sich, sondern als vollständiger Lastpfad funktionieren.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Fundamente als letzter Abschnitt des Lastwegs</a:t>
            </a:r>
          </a:p>
        </p:txBody>
      </p:sp>
      <p:sp>
        <p:nvSpPr>
          <p:cNvPr id="3" name="Content Placeholder 2"/>
          <p:cNvSpPr>
            <a:spLocks noGrp="1"/>
          </p:cNvSpPr>
          <p:nvPr>
            <p:ph idx="1"/>
          </p:nvPr>
        </p:nvSpPr>
        <p:spPr/>
        <p:txBody>
          <a:bodyPr/>
          <a:lstStyle/>
          <a:p>
            <a:pPr>
              <a:defRPr sz="1800"/>
            </a:pPr>
            <a:r>
              <a:t>Die Windkraft endet nicht am Pfosten. Sie muss über das Fundament in den Baugrund geleitet werden. Dafür sind eine ausreichende Gründungstiefe, die Tragfähigkeit des Bodens und eine standsichere Verbindung zwischen Pfosten und Fundament relevant. Frostfreie Gründungstiefe und die Vermeidung dauerhafter Feuchte am Pfostenfuß müssen berücksichtigt werden.</a:t>
            </a:r>
          </a:p>
          <a:p>
            <a:pPr>
              <a:defRPr sz="1800"/>
            </a:pPr>
          </a:p>
          <a:p>
            <a:pPr>
              <a:defRPr sz="1800"/>
            </a:pPr>
            <a:r>
              <a:t>Ein Pfostenanker aus Stahl kann den Holzpfosten vom direkten Erdkontakt trennen und so Feuchte am Holz reduzieren. Für die mechanische Belastung ändert das jedoch nichts: Die eingeleiteten Kräfte werden weiterhin in das Fundament übertragen. Pfostenanker sollten deshalb nicht als Ersatz für 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Fundamente als letzter Abschnitt des Lastwegs</a:t>
            </a:r>
          </a:p>
        </p:txBody>
      </p:sp>
      <p:sp>
        <p:nvSpPr>
          <p:cNvPr id="3" name="Content Placeholder 2"/>
          <p:cNvSpPr>
            <a:spLocks noGrp="1"/>
          </p:cNvSpPr>
          <p:nvPr>
            <p:ph idx="1"/>
          </p:nvPr>
        </p:nvSpPr>
        <p:spPr/>
        <p:txBody>
          <a:bodyPr/>
          <a:lstStyle/>
          <a:p>
            <a:pPr>
              <a:defRPr sz="1800"/>
            </a:pPr>
            <a:r>
              <a:t>ine passende Bemessung von Pfosten und Fundament verstanden werden. Die tatsächliche Ausführung hängt unter anderem von Bodenverhältnissen und örtlichen Vorgaben 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Tore und Übergänge gesondert betrachten</a:t>
            </a:r>
          </a:p>
        </p:txBody>
      </p:sp>
      <p:sp>
        <p:nvSpPr>
          <p:cNvPr id="3" name="Content Placeholder 2"/>
          <p:cNvSpPr>
            <a:spLocks noGrp="1"/>
          </p:cNvSpPr>
          <p:nvPr>
            <p:ph idx="1"/>
          </p:nvPr>
        </p:nvSpPr>
        <p:spPr/>
        <p:txBody>
          <a:bodyPr/>
          <a:lstStyle/>
          <a:p>
            <a:pPr>
              <a:defRPr sz="1800"/>
            </a:pPr>
            <a:r>
              <a:t>Ein Tor ist innerhalb einer Zaunlinie ein Sonderfall. Flügelgewicht, Öffnungsrichtung und die Art der Beschläge beeinflussen die angrenzenden Pfosten zusätzlich. Torpfosten werden in der Regel stärker dimensioniert und tiefer gegründet als die Pfosten gewöhnlicher Felder. Diese Unterschiede gehören bereits in die erste Skizze, damit Pfosten, Fundamente und Torbeschläge nicht nachträglich separat behandelt werden müssen.</a:t>
            </a:r>
          </a:p>
          <a:p>
            <a:pPr>
              <a:defRPr sz="1800"/>
            </a:pPr>
          </a:p>
          <a:p>
            <a:pPr>
              <a:defRPr sz="1800"/>
            </a:pPr>
            <a:r>
              <a:t>Vor dem Aufbau sollten abschließend die Offenheit und Höhe der Felder, die Standortbedingungen, geplante Tore, die Bodenverhältnisse und die frostfreie Gründungstiefe geklärt sein. Wer diese Angaben gemeinsam betrachtet, kann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Tore und Übergänge gesondert betrachten</a:t>
            </a:r>
          </a:p>
        </p:txBody>
      </p:sp>
      <p:sp>
        <p:nvSpPr>
          <p:cNvPr id="3" name="Content Placeholder 2"/>
          <p:cNvSpPr>
            <a:spLocks noGrp="1"/>
          </p:cNvSpPr>
          <p:nvPr>
            <p:ph idx="1"/>
          </p:nvPr>
        </p:nvSpPr>
        <p:spPr/>
        <p:txBody>
          <a:bodyPr/>
          <a:lstStyle/>
          <a:p>
            <a:pPr>
              <a:defRPr sz="1800"/>
            </a:pPr>
            <a:r>
              <a:t> Pfostenabstände, Querschnitte, Verbindungen und Fundamente aufeinander abstimmen und einen dauerhaft funktionierenden Holzzaun planen.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Holzzaun und Windlast: Pfostenabstände und Fundamente im Zusammenhang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